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paper" id="{BF487BE5-6140-024F-815E-452EFE4A6001}">
          <p14:sldIdLst>
            <p14:sldId id="256"/>
            <p14:sldId id="258"/>
            <p14:sldId id="260"/>
            <p14:sldId id="261"/>
          </p14:sldIdLst>
        </p14:section>
        <p14:section name="Supplement" id="{F0339B64-3095-244D-935B-109BCD792C02}">
          <p14:sldIdLst>
            <p14:sldId id="25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1"/>
    <p:restoredTop sz="94658"/>
  </p:normalViewPr>
  <p:slideViewPr>
    <p:cSldViewPr snapToGrid="0">
      <p:cViewPr varScale="1">
        <p:scale>
          <a:sx n="177" d="100"/>
          <a:sy n="177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C005-5085-6ADE-B937-6D8CE5835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44C9E-D67F-9762-CE48-C3D904E24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5E71-1890-7A09-D613-771105D7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6864-F802-E68C-20BE-A34204CC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5434-2ECA-1326-F98D-D29E7E8B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8C37-7092-4E9A-FB11-541332C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82CC-E74B-4B3E-F409-D654E8F03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5E76-0504-601B-BB3E-89C4B3D5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D651-AFEA-412B-A7FE-AA7CFE8F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1F942-6DB8-5D0D-A5AA-CF399916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0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23E2-BBAE-3B2E-208E-291302AB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4EB35-FC2E-80C6-D046-F137F42FE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47DD-A449-0B50-1E43-9B2D7DEB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89C94-A1FC-B0F7-BF25-CB74CBFD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5C9B8-8BDA-8367-3EC3-032BEB91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8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DD7C-1254-B2A1-46F9-0D1DBAA7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B4AD-7E55-915C-64CB-4068510F2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2F3EA-AE38-3044-2F51-EE3B64D12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0D74A-5A14-941D-4C48-A58CB452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F6BB2-544A-368A-7C3A-2C994F29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CCE39-AA83-A92B-8584-F8BDDF81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3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823D-7912-B71B-0682-38646163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50295-8B51-7684-1028-D4E3FA8A3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84955-64FF-3132-BF5D-39C02FDD0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79180-6C11-27A0-621A-EDE2525FA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DEDD6-E74D-94FB-19B1-0C41708DC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B2A6D-8CB2-6BF8-A9EE-7ED09C74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C4383-FD1E-F203-DA36-365E63F9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3F682-3C0F-FE93-86AE-A28B46D5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7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F079-FD3F-7EFB-DB9D-B53FE20E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B22DE-7909-4F7B-7CEB-2429C2F5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90D5F-8F82-A42A-42E2-A87DC4F6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06F7-A5F3-D88D-54FE-CB1B2EB6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4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9DC65-FC4D-5A6B-1BDB-AEBDD422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95FFB-BE41-219B-0029-3B9673D6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ABE6-000B-35C9-6DFE-B0776217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A182-6603-586D-4898-C9962784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1349-A581-7E60-C0B3-A26690CC5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98A7-1D39-2C4D-FF3D-84DFAE976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30646-D026-AFD9-591E-733FC773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246E6-1C9C-CD30-276A-CBC09C0E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685BB-1D3D-D996-F787-B0FE006C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3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0E2-A4EE-1130-52F9-6CA40068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92817-AA55-D6F5-0CBC-EF0270F64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1C53D-3681-A745-FC7F-0964FADF8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A2854-37F1-F5A5-A4AB-514B3404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18E25-020E-9AA1-8B94-572B7B93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D5CFE-00D9-71A6-5DED-B9B91446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B28C-DD00-2B31-EAB6-263E3115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90E00-41FD-F436-C9F3-A63A0B564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802A2-49FA-99BF-426E-AF00925B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B6756-617B-A41F-D720-23E656DF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23307-1C91-D86C-C20E-33A19C3B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536A5-E179-EC27-ACC1-B8EB80205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93672-EF9F-48DD-3FB9-2506431D1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23F9-B500-22A8-08E9-3E9F2B1E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E9E2A-234B-78CC-2D7B-346C2D4A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E48EE-A738-F6B7-3424-2BA3FFD0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6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AC720-D5AF-523F-5447-7215D5B8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483F5-C269-C984-1DE7-4CB8DB7CB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3929-B0EA-E2DE-36DD-CC8B18369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45E82-36D4-3E45-8FEB-FD05B44E1A0F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D3C07-B4E7-791A-4E94-CC6856E96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5920-9E0C-FB43-319E-6A14CAD3C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1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8C56D8E-A138-2BBF-CCC5-24C623AA258A}"/>
              </a:ext>
            </a:extLst>
          </p:cNvPr>
          <p:cNvGrpSpPr/>
          <p:nvPr/>
        </p:nvGrpSpPr>
        <p:grpSpPr>
          <a:xfrm>
            <a:off x="2209800" y="0"/>
            <a:ext cx="7772399" cy="4632917"/>
            <a:chOff x="2209800" y="957932"/>
            <a:chExt cx="7772399" cy="46329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6D4795-03BE-5729-571B-B35115FC7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09800" y="957932"/>
              <a:ext cx="7772399" cy="46329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410505-50AB-EAEB-EF6D-566C1069A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398" b="23941"/>
            <a:stretch>
              <a:fillRect/>
            </a:stretch>
          </p:blipFill>
          <p:spPr>
            <a:xfrm>
              <a:off x="3307650" y="1159167"/>
              <a:ext cx="1321778" cy="95234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EEB7FD-7185-321B-A203-C4ADC5855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592" b="2364"/>
            <a:stretch>
              <a:fillRect/>
            </a:stretch>
          </p:blipFill>
          <p:spPr>
            <a:xfrm>
              <a:off x="5984034" y="1181254"/>
              <a:ext cx="1321779" cy="93229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38824C2-7627-B590-C62C-0EBDDAF28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4712" y="1181254"/>
              <a:ext cx="1321779" cy="88118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B9934CB-E4EB-432F-0248-163179D9A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2553" y="3429000"/>
              <a:ext cx="1326875" cy="88458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C5BB824-1744-DEF6-DD44-32694A535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524" t="575" r="2529"/>
            <a:stretch>
              <a:fillRect/>
            </a:stretch>
          </p:blipFill>
          <p:spPr>
            <a:xfrm>
              <a:off x="5984034" y="3429000"/>
              <a:ext cx="1194911" cy="84305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6461019-110B-A4B9-1E7F-E6EC639A4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33551" y="3328524"/>
              <a:ext cx="1258037" cy="943528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AB76D9A-7934-FDFC-0C5C-9261AF0843E5}"/>
              </a:ext>
            </a:extLst>
          </p:cNvPr>
          <p:cNvSpPr txBox="1"/>
          <p:nvPr/>
        </p:nvSpPr>
        <p:spPr>
          <a:xfrm>
            <a:off x="2045252" y="5093252"/>
            <a:ext cx="922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1: Overall, flavor, and texture scores, and six textural attributes for the surveyed burgers.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83BC7-82BF-8748-91A4-8CEAD4ED16B7}"/>
              </a:ext>
            </a:extLst>
          </p:cNvPr>
          <p:cNvSpPr txBox="1"/>
          <p:nvPr/>
        </p:nvSpPr>
        <p:spPr>
          <a:xfrm>
            <a:off x="2160104" y="5579165"/>
            <a:ext cx="7950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mushroom burger is on par with the big mac even though our cohort is omnivores.</a:t>
            </a:r>
          </a:p>
          <a:p>
            <a:pPr marL="228600" indent="-228600">
              <a:buAutoNum type="arabicPeriod"/>
            </a:pPr>
            <a:r>
              <a:rPr lang="en-US" sz="1200" dirty="0"/>
              <a:t>The big mac is softer, meatier, and harder than all six. It is also less fibrous than all six. It is second in fattiness.</a:t>
            </a:r>
          </a:p>
          <a:p>
            <a:pPr marL="228600" indent="-228600">
              <a:buAutoNum type="arabicPeriod"/>
            </a:pPr>
            <a:r>
              <a:rPr lang="en-US" sz="1200" dirty="0"/>
              <a:t>The sweet oat burger is significantly more liked than the savory oat burger, suggesting sweetness is very important.</a:t>
            </a:r>
          </a:p>
        </p:txBody>
      </p:sp>
    </p:spTree>
    <p:extLst>
      <p:ext uri="{BB962C8B-B14F-4D97-AF65-F5344CB8AC3E}">
        <p14:creationId xmlns:p14="http://schemas.microsoft.com/office/powerpoint/2010/main" val="11581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975692-A15C-33E8-C3DE-52008562A4DC}"/>
              </a:ext>
            </a:extLst>
          </p:cNvPr>
          <p:cNvSpPr txBox="1"/>
          <p:nvPr/>
        </p:nvSpPr>
        <p:spPr>
          <a:xfrm>
            <a:off x="909691" y="521856"/>
            <a:ext cx="54289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3: Environmental impacts of the surveyed burgers compared to the big mac on a per-calorie basis (A), and the proposed sustainability facts label compared to a standard nutrition facts label for the mushroom burger as an example (B).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D9557-CFA1-250D-38C5-51101A0B17C7}"/>
              </a:ext>
            </a:extLst>
          </p:cNvPr>
          <p:cNvSpPr txBox="1"/>
          <p:nvPr/>
        </p:nvSpPr>
        <p:spPr>
          <a:xfrm>
            <a:off x="1514160" y="2735159"/>
            <a:ext cx="39861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All the burgers have extremely low environmental footprints compared to a typical meat burger like the big mac. Most have less than 1/10 the impact of the big mac.</a:t>
            </a:r>
          </a:p>
          <a:p>
            <a:pPr marL="228600" indent="-228600">
              <a:buAutoNum type="arabicPeriod"/>
            </a:pPr>
            <a:r>
              <a:rPr lang="en-US" sz="1200" dirty="0"/>
              <a:t>The sustainability facts label uses the big mac as the baseline due to its familiarity. </a:t>
            </a:r>
          </a:p>
          <a:p>
            <a:pPr marL="228600" indent="-228600">
              <a:buAutoNum type="arabicPeriod"/>
            </a:pPr>
            <a:r>
              <a:rPr lang="en-US" sz="1200" dirty="0"/>
              <a:t>It also gives an intuitive environmental impact score alongside a </a:t>
            </a:r>
            <a:r>
              <a:rPr lang="en-US" sz="1200" dirty="0" err="1"/>
              <a:t>colorbar</a:t>
            </a:r>
            <a:r>
              <a:rPr lang="en-US" sz="1200" dirty="0"/>
              <a:t> for quick lookups.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D83EF4-EB8C-2059-ADA9-4F41960C5292}"/>
              </a:ext>
            </a:extLst>
          </p:cNvPr>
          <p:cNvGrpSpPr/>
          <p:nvPr/>
        </p:nvGrpSpPr>
        <p:grpSpPr>
          <a:xfrm>
            <a:off x="6638732" y="95984"/>
            <a:ext cx="4742705" cy="3746342"/>
            <a:chOff x="7498424" y="-99684"/>
            <a:chExt cx="4742705" cy="37463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5504E3-01B5-02DF-3608-8A57B7407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617688" y="0"/>
              <a:ext cx="4623441" cy="364665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728B1D-50A1-455F-9D3B-18B4A0966F52}"/>
                </a:ext>
              </a:extLst>
            </p:cNvPr>
            <p:cNvSpPr txBox="1"/>
            <p:nvPr/>
          </p:nvSpPr>
          <p:spPr>
            <a:xfrm>
              <a:off x="7498424" y="-99684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FC224C6-583F-213B-4623-79D15451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2" t="2869" r="54961" b="10413"/>
          <a:stretch>
            <a:fillRect/>
          </a:stretch>
        </p:blipFill>
        <p:spPr>
          <a:xfrm>
            <a:off x="6991702" y="3067429"/>
            <a:ext cx="1956910" cy="3102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553EC5-6087-AF62-AE38-0BC6BF36F555}"/>
              </a:ext>
            </a:extLst>
          </p:cNvPr>
          <p:cNvSpPr txBox="1"/>
          <p:nvPr/>
        </p:nvSpPr>
        <p:spPr>
          <a:xfrm>
            <a:off x="6623618" y="283685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E7B0-F24F-5499-9E82-049AC494B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87" t="2869" r="2157" b="44039"/>
          <a:stretch>
            <a:fillRect/>
          </a:stretch>
        </p:blipFill>
        <p:spPr>
          <a:xfrm>
            <a:off x="9242699" y="4270279"/>
            <a:ext cx="1956910" cy="189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6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1D9D7-83FA-BD7E-A5C6-364E6CFD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06" y="70224"/>
            <a:ext cx="5260788" cy="4626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C01F16-7436-2CD7-5FB8-01EA6B6DDB52}"/>
              </a:ext>
            </a:extLst>
          </p:cNvPr>
          <p:cNvSpPr txBox="1"/>
          <p:nvPr/>
        </p:nvSpPr>
        <p:spPr>
          <a:xfrm>
            <a:off x="2338828" y="4757396"/>
            <a:ext cx="751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5: Correspondence analysis biplot for the 6 veggie burgers from the current study, as well as 4 meat-based burgers from our previous survey.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63143-0B3F-32CA-6719-A24A28468C41}"/>
              </a:ext>
            </a:extLst>
          </p:cNvPr>
          <p:cNvSpPr txBox="1"/>
          <p:nvPr/>
        </p:nvSpPr>
        <p:spPr>
          <a:xfrm>
            <a:off x="2127058" y="5403727"/>
            <a:ext cx="7937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Most of the meat burgers are clustered together.</a:t>
            </a:r>
          </a:p>
          <a:p>
            <a:pPr marL="228600" indent="-228600">
              <a:buAutoNum type="arabicPeriod"/>
            </a:pPr>
            <a:r>
              <a:rPr lang="en-US" sz="1200" dirty="0"/>
              <a:t>Most of the veggie burgers are significantly different from the meat burgers, and they are divergent (different in their own protein-specific ways).</a:t>
            </a:r>
          </a:p>
          <a:p>
            <a:pPr marL="228600" indent="-228600">
              <a:buAutoNum type="arabicPeriod"/>
            </a:pPr>
            <a:r>
              <a:rPr lang="en-US" sz="1200" dirty="0"/>
              <a:t>The mushroom burger is associated closely with meat-based burgers.</a:t>
            </a:r>
          </a:p>
          <a:p>
            <a:pPr marL="228600" indent="-228600">
              <a:buAutoNum type="arabicPeriod"/>
            </a:pPr>
            <a:r>
              <a:rPr lang="en-US" sz="1200" dirty="0"/>
              <a:t>The big mac (meat burger 1) is different from the other meat-based burgers. This could be because it is a fast food restaurant item.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6905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D06F19-E4B3-ACF7-7A26-4892D0E49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25279" y="2711301"/>
            <a:ext cx="3422725" cy="40923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F5B6AB-E932-1D7A-2612-63D0826071D3}"/>
              </a:ext>
            </a:extLst>
          </p:cNvPr>
          <p:cNvSpPr txBox="1"/>
          <p:nvPr/>
        </p:nvSpPr>
        <p:spPr>
          <a:xfrm>
            <a:off x="-59622" y="0"/>
            <a:ext cx="44792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6: Mixed effects coefficients for texture and flavor score as determinants of overall liking, and flavor- and texture-related CATA attributes as determinants of flavor and texture scores, respectively (A). Predicted and observed scores using the constructed mixed effects model for the 6 burgers in the current survey (B). Validation of the model with unseen data from the previous survey (C).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64823-EFBD-E95B-901B-746962157659}"/>
              </a:ext>
            </a:extLst>
          </p:cNvPr>
          <p:cNvSpPr txBox="1"/>
          <p:nvPr/>
        </p:nvSpPr>
        <p:spPr>
          <a:xfrm>
            <a:off x="0" y="3029444"/>
            <a:ext cx="39689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Texture and flavor both have significant positive impact on overall liking.</a:t>
            </a:r>
          </a:p>
          <a:p>
            <a:pPr marL="228600" indent="-228600">
              <a:buAutoNum type="arabicPeriod"/>
            </a:pPr>
            <a:r>
              <a:rPr lang="en-US" sz="1200" dirty="0"/>
              <a:t>The coefficients for texture and flavor are consistent with our previous findings. (The texture paper).</a:t>
            </a:r>
          </a:p>
          <a:p>
            <a:pPr marL="228600" indent="-228600">
              <a:buAutoNum type="arabicPeriod"/>
            </a:pPr>
            <a:r>
              <a:rPr lang="en-US" sz="1200" dirty="0"/>
              <a:t>We only include the </a:t>
            </a:r>
            <a:r>
              <a:rPr lang="en-US" sz="1200" dirty="0" err="1"/>
              <a:t>cata</a:t>
            </a:r>
            <a:r>
              <a:rPr lang="en-US" sz="1200" dirty="0"/>
              <a:t> attributes that have statistically significant impact on the scores.</a:t>
            </a:r>
          </a:p>
          <a:p>
            <a:pPr marL="228600" indent="-228600">
              <a:buAutoNum type="arabicPeriod"/>
            </a:pPr>
            <a:r>
              <a:rPr lang="en-US" sz="1200" dirty="0"/>
              <a:t>Good aftertaste and savory have the most positive impact, and weird aftertaste and off-flavor have the most negative impact on flavor score.</a:t>
            </a:r>
          </a:p>
          <a:p>
            <a:pPr marL="228600" indent="-228600">
              <a:buAutoNum type="arabicPeriod"/>
            </a:pPr>
            <a:r>
              <a:rPr lang="en-US" sz="1200" dirty="0"/>
              <a:t>Holds together has the most positive and toughness has the most negative impact on texture liking.</a:t>
            </a:r>
          </a:p>
          <a:p>
            <a:pPr marL="228600" indent="-228600">
              <a:buFontTx/>
              <a:buAutoNum type="arabicPeriod"/>
            </a:pPr>
            <a:r>
              <a:rPr lang="en-US" sz="1200" dirty="0"/>
              <a:t>The model predicts all three scores with high accuracy, even for the validation cases, and even without observing data for any meat burgers.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A50FBF-14AA-88F3-EDE8-58478E6D95B4}"/>
              </a:ext>
            </a:extLst>
          </p:cNvPr>
          <p:cNvGrpSpPr/>
          <p:nvPr/>
        </p:nvGrpSpPr>
        <p:grpSpPr>
          <a:xfrm>
            <a:off x="4819597" y="117043"/>
            <a:ext cx="6476826" cy="2594258"/>
            <a:chOff x="4929161" y="117043"/>
            <a:chExt cx="6476826" cy="259425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2E89036-6394-15CA-659E-371E5E25F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242605" y="245948"/>
              <a:ext cx="6163382" cy="246535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3760F8-88B7-84AD-4A31-2FCDD5D71ADC}"/>
                </a:ext>
              </a:extLst>
            </p:cNvPr>
            <p:cNvSpPr txBox="1"/>
            <p:nvPr/>
          </p:nvSpPr>
          <p:spPr>
            <a:xfrm>
              <a:off x="4929161" y="117043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029F1A-C4BF-9219-E94F-855FAB4D4046}"/>
              </a:ext>
            </a:extLst>
          </p:cNvPr>
          <p:cNvGrpSpPr/>
          <p:nvPr/>
        </p:nvGrpSpPr>
        <p:grpSpPr>
          <a:xfrm>
            <a:off x="4702554" y="2465354"/>
            <a:ext cx="3422725" cy="4338336"/>
            <a:chOff x="4702554" y="2465354"/>
            <a:chExt cx="3422725" cy="43383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828DC7-F8ED-F3DD-B8D5-13EB328F0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2554" y="2711302"/>
              <a:ext cx="3422725" cy="409238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36E91D-EFA8-7145-52B1-D6C498C34326}"/>
                </a:ext>
              </a:extLst>
            </p:cNvPr>
            <p:cNvSpPr txBox="1"/>
            <p:nvPr/>
          </p:nvSpPr>
          <p:spPr>
            <a:xfrm>
              <a:off x="4812118" y="2465354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018DB09-D072-3B5B-0D11-1D7FC16DDC36}"/>
              </a:ext>
            </a:extLst>
          </p:cNvPr>
          <p:cNvSpPr txBox="1"/>
          <p:nvPr/>
        </p:nvSpPr>
        <p:spPr>
          <a:xfrm>
            <a:off x="8570038" y="2465354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169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717877-DFA1-5096-DBED-F0B54774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6488"/>
            <a:ext cx="7772400" cy="3868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B20A6-891A-F058-4E86-153457F72421}"/>
              </a:ext>
            </a:extLst>
          </p:cNvPr>
          <p:cNvSpPr txBox="1"/>
          <p:nvPr/>
        </p:nvSpPr>
        <p:spPr>
          <a:xfrm>
            <a:off x="2467859" y="4818334"/>
            <a:ext cx="725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2: AI generated burger recipes, and adjustments by the human chef.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3E804-257B-9192-72F9-783304713490}"/>
              </a:ext>
            </a:extLst>
          </p:cNvPr>
          <p:cNvSpPr txBox="1"/>
          <p:nvPr/>
        </p:nvSpPr>
        <p:spPr>
          <a:xfrm>
            <a:off x="2127060" y="5425141"/>
            <a:ext cx="793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AI chef and human chef are in very good agreement for all recipes except oat burgers. The AI model needs to be enhanced with better/more data on oat burgers.</a:t>
            </a:r>
          </a:p>
        </p:txBody>
      </p:sp>
    </p:spTree>
    <p:extLst>
      <p:ext uri="{BB962C8B-B14F-4D97-AF65-F5344CB8AC3E}">
        <p14:creationId xmlns:p14="http://schemas.microsoft.com/office/powerpoint/2010/main" val="92109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414082-4D7E-50A1-74B7-9CACC443BA54}"/>
              </a:ext>
            </a:extLst>
          </p:cNvPr>
          <p:cNvSpPr txBox="1"/>
          <p:nvPr/>
        </p:nvSpPr>
        <p:spPr>
          <a:xfrm>
            <a:off x="2338829" y="5205631"/>
            <a:ext cx="751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4: Proposed sustainability facts labels alongside standard nutrition facts labels for the six burgers.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676FB-95E6-8CA3-3FFF-89AAFAEEA2A1}"/>
              </a:ext>
            </a:extLst>
          </p:cNvPr>
          <p:cNvSpPr txBox="1"/>
          <p:nvPr/>
        </p:nvSpPr>
        <p:spPr>
          <a:xfrm>
            <a:off x="2338829" y="5945094"/>
            <a:ext cx="793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sustainability facts label uses the big mac as the baseline due to its familiarity. </a:t>
            </a:r>
          </a:p>
          <a:p>
            <a:pPr marL="228600" indent="-228600">
              <a:buAutoNum type="arabicPeriod"/>
            </a:pPr>
            <a:r>
              <a:rPr lang="en-US" sz="1200" dirty="0"/>
              <a:t>It also gives an intuitive environmental impact score alongside a </a:t>
            </a:r>
            <a:r>
              <a:rPr lang="en-US" sz="1200" dirty="0" err="1"/>
              <a:t>colorbar</a:t>
            </a:r>
            <a:r>
              <a:rPr lang="en-US" sz="1200" dirty="0"/>
              <a:t> for quick lookups.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34DBF6-AE1E-3025-0605-683AE0FF5BC9}"/>
              </a:ext>
            </a:extLst>
          </p:cNvPr>
          <p:cNvGrpSpPr/>
          <p:nvPr/>
        </p:nvGrpSpPr>
        <p:grpSpPr>
          <a:xfrm>
            <a:off x="2338829" y="1158050"/>
            <a:ext cx="7655813" cy="2153227"/>
            <a:chOff x="2338829" y="335972"/>
            <a:chExt cx="7655813" cy="21532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F731E7-033E-BF64-555E-5073A9386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8829" y="335972"/>
              <a:ext cx="2742069" cy="215322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EF4E7F-2A79-3CAF-851A-90B5FF67C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7265" y="335972"/>
              <a:ext cx="2742069" cy="215322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B5981DC-2CF9-691E-B3F2-AEE79BE9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5701" y="335972"/>
              <a:ext cx="2742069" cy="21532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20421F-A2A3-0FA6-089B-049CE105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4137" y="335972"/>
              <a:ext cx="2742069" cy="215322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13B7F3-0FD9-5FAF-BA02-CA0C6293F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2573" y="335972"/>
              <a:ext cx="2742069" cy="215322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FFFA3D-366F-99A9-28F3-7224BD92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6274"/>
            <a:stretch>
              <a:fillRect/>
            </a:stretch>
          </p:blipFill>
          <p:spPr>
            <a:xfrm>
              <a:off x="8481010" y="335972"/>
              <a:ext cx="1473202" cy="2153227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D63DC8-D7C7-62EC-D3E4-D4518ADA7CBE}"/>
              </a:ext>
            </a:extLst>
          </p:cNvPr>
          <p:cNvGrpSpPr/>
          <p:nvPr/>
        </p:nvGrpSpPr>
        <p:grpSpPr>
          <a:xfrm>
            <a:off x="2121773" y="3093066"/>
            <a:ext cx="7655814" cy="2153230"/>
            <a:chOff x="2121773" y="2174006"/>
            <a:chExt cx="7655814" cy="215323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81BB89-C231-2A85-1E66-EB6026C7E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035518" y="2174009"/>
              <a:ext cx="2742069" cy="215322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15A744-386B-D3A6-7C3F-390AB349D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07082" y="2174008"/>
              <a:ext cx="2742069" cy="215322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C0BC90-0007-565B-CA50-525C91EC2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8646" y="2174008"/>
              <a:ext cx="2742069" cy="215322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D47A181-01F5-A5B2-1364-8B4B47843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0209" y="2174008"/>
              <a:ext cx="2742069" cy="215322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101BEA8-50F2-F0BB-10DF-2DD38D4C5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1773" y="2174007"/>
              <a:ext cx="2742069" cy="215322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01BCE6B-4C74-C345-276E-844C3E737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4800"/>
            <a:stretch>
              <a:fillRect/>
            </a:stretch>
          </p:blipFill>
          <p:spPr>
            <a:xfrm>
              <a:off x="2121773" y="2174006"/>
              <a:ext cx="1513633" cy="2153227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A7B6BAD-E150-407E-6970-C7BD20DEA2C4}"/>
              </a:ext>
            </a:extLst>
          </p:cNvPr>
          <p:cNvSpPr txBox="1"/>
          <p:nvPr/>
        </p:nvSpPr>
        <p:spPr>
          <a:xfrm>
            <a:off x="2693200" y="926418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631A25-E31A-E073-79DE-D35BF423B9F0}"/>
              </a:ext>
            </a:extLst>
          </p:cNvPr>
          <p:cNvSpPr txBox="1"/>
          <p:nvPr/>
        </p:nvSpPr>
        <p:spPr>
          <a:xfrm>
            <a:off x="3730833" y="926418"/>
            <a:ext cx="913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mushroom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90D5F0-0DE7-30E3-05C8-53FE3F11DCC5}"/>
              </a:ext>
            </a:extLst>
          </p:cNvPr>
          <p:cNvSpPr txBox="1"/>
          <p:nvPr/>
        </p:nvSpPr>
        <p:spPr>
          <a:xfrm>
            <a:off x="5012756" y="926418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chickpea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C5F5C2-9961-83D1-45F3-D54A2F4F8402}"/>
              </a:ext>
            </a:extLst>
          </p:cNvPr>
          <p:cNvSpPr txBox="1"/>
          <p:nvPr/>
        </p:nvSpPr>
        <p:spPr>
          <a:xfrm>
            <a:off x="6387041" y="926417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lentil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D23AED-570D-F44D-CBA9-2498E7F6F8F1}"/>
              </a:ext>
            </a:extLst>
          </p:cNvPr>
          <p:cNvSpPr txBox="1"/>
          <p:nvPr/>
        </p:nvSpPr>
        <p:spPr>
          <a:xfrm>
            <a:off x="7469629" y="926416"/>
            <a:ext cx="863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savory oat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F1985-1E67-24F2-6DFD-3D1C8C15CB6C}"/>
              </a:ext>
            </a:extLst>
          </p:cNvPr>
          <p:cNvSpPr txBox="1"/>
          <p:nvPr/>
        </p:nvSpPr>
        <p:spPr>
          <a:xfrm>
            <a:off x="8680768" y="925063"/>
            <a:ext cx="827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sweet oat</a:t>
            </a:r>
          </a:p>
        </p:txBody>
      </p:sp>
    </p:spTree>
    <p:extLst>
      <p:ext uri="{BB962C8B-B14F-4D97-AF65-F5344CB8AC3E}">
        <p14:creationId xmlns:p14="http://schemas.microsoft.com/office/powerpoint/2010/main" val="250660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607</Words>
  <Application>Microsoft Macintosh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Vahidullah Tac</dc:creator>
  <cp:lastModifiedBy>Vahidullah Tac</cp:lastModifiedBy>
  <cp:revision>8</cp:revision>
  <dcterms:created xsi:type="dcterms:W3CDTF">2026-08-24T21:23:15Z</dcterms:created>
  <dcterms:modified xsi:type="dcterms:W3CDTF">2026-09-08T22:20:07Z</dcterms:modified>
</cp:coreProperties>
</file>